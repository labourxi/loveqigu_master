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秒：先定义品类——空间信物记忆系统，不是 AR 特效公司。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用景区方痛点开场：游客来了，关系没留下。强调「关系资产」不是 DAU。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 Slide：用「空间操作系统」定位，对标 OS 而非 App。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必讲：信物≠数字藏品。信物是故事进度资产，藏品是传播资产。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商业模式：B2B2C，景区买单。用户免费探索，避免 C 端道具争议。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试点可验证：90 天、3 点位、5 项核心指标。可现场演示小程序闭环。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融资用途按 40/30/20/10 结构讲清。金额与估值由创始团队现场填入。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收尾邀请：欢迎现场体验「进入景区」完整闭环。留下联系方式。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8A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8A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B896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Oval 10"/>
          <p:cNvSpPr/>
          <p:nvPr/>
        </p:nvSpPr>
        <p:spPr>
          <a:xfrm>
            <a:off x="5394960" y="1463040"/>
            <a:ext cx="1371600" cy="1371600"/>
          </a:xfrm>
          <a:prstGeom prst="ellipse">
            <a:avLst/>
          </a:prstGeom>
          <a:solidFill>
            <a:srgbClr val="354A44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4F1EB"/>
                </a:solidFill>
                <a:latin typeface="Microsoft YaHei"/>
              </a:defRPr>
            </a:pPr>
            <a:r>
              <a:t>AR游伴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68A3D"/>
                </a:solidFill>
                <a:latin typeface="Microsoft YaHei"/>
              </a:defRPr>
            </a:pPr>
            <a:r>
              <a:t>看见即是找回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886200"/>
            <a:ext cx="448056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71600" y="4160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B896"/>
                </a:solidFill>
                <a:latin typeface="Microsoft YaHei"/>
              </a:defRPr>
            </a:pPr>
            <a:r>
              <a:t>空间信物记忆系统 · 文旅数字化基础设施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LOVEQIGU / ARYOUBAN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9B896"/>
                </a:solidFill>
                <a:latin typeface="Microsoft YaHei"/>
              </a:defRPr>
            </a:pPr>
            <a:r>
              <a:t>结论 · AR游伴不是 AR 展示工具，而是让真实空间留下可被记住的探索痕迹。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文旅体验的三重断裂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游客：打卡一次性，离开即失联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景区：导览静态页，现场无记忆层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商家：核销断链，难以承接探索行为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游客 ──╳── 景区 ──╳── 商家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 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      ▼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数据孤岛 · 无记忆 · 无关系 · 无复访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游客走完一圈，景区和商家却拿不到可持续的关系资产。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数字化做了「上线」，没做成「在场」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传统路径：小程序 → 图文介绍 → 优惠券 → 结束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缺失层（AR游伴补全）：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· 空间触发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· 仪式引导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· 信物记忆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文旅数字化的缺口不在内容多少，而在空间现场是否产生可被记录的关系。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万亿文旅市场，正在从「导览」走向「在场操作系统」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TAM · 中国文旅消费（万亿级市场）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SAM · 景区 / 文博 / 城市文化点位数字化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SOM · 空间信物 + XR 运营基础设施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      ▼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AR游伴切入点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市场规模分层为路演框架，具体数值需以最新行业公开报告核验。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我们切入的不是 AR 特效市场，而是文旅场域数字化中「缺失的空间记忆层」。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三个确定性趋势叠加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政策推动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文化数字化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文博活化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线下复苏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体验经济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深度游回归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微信生态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小程序渗透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超级入口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景区需要可运营、可复购、可传播的现场体验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政策、消费与超级 App 生态同时为「空间运营系统」打开了窗口期。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AR游伴 = 现实空间的信物记忆操作系统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│   空间操作系统层                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│   触发 · 仪式 · 信物 · 关系     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└──────────────┬──────────────────────┘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XR 感知层  │  事件驱动层  │  运营回流层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识别/显现  │  Event Bus  │  活动/权益/CRM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我们把现实空间变成可记录、可运营、可复访的体验结构，而非一次性打卡页面。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XR 体验 × 信物系统 × 运营 CRM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XR 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空间识别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显现仪式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备用显现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信物层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故事进度资产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探索图谱节点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回响记录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运营层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景区后台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商家门户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权益中心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用户端小程序统一承载三层能力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信物层：故事进度资产 · 非数字藏品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产品不是单点 AR，而是现场体验、记忆资产与商业运营的一体化结构。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信物：用户与空间发生关系的记录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872234" y="2148840"/>
            <a:ext cx="256032" cy="256032"/>
          </a:xfrm>
          <a:prstGeom prst="ellipse">
            <a:avLst/>
          </a:prstGeom>
          <a:solidFill>
            <a:srgbClr val="B68A3D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305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空间触发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XR入口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83130.0" y="2276856"/>
            <a:ext cx="235458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257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339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614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仪式引导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614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探索状态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03470.0" y="2276856"/>
            <a:ext cx="235458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31291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373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信物显现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收藏册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23810.0" y="2276856"/>
            <a:ext cx="235458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03325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407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682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意义沉淀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682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今日回响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840480"/>
            <a:ext cx="10607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0233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信物 ≠ 数字藏品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信物 = 故事进度资产  ·  藏品 = 传播/营销资产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信物不是奖励道具，而是可被记住、可被运营、可被回看的空间关系凭证。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进入 → 探索 → 发现 → 获得信物 → 完成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00200" y="2148840"/>
            <a:ext cx="256032" cy="256032"/>
          </a:xfrm>
          <a:prstGeom prst="ellipse">
            <a:avLst/>
          </a:prstGeom>
          <a:solidFill>
            <a:srgbClr val="B68A3D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进入景区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xr_start_v1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11096.0" y="2276856"/>
            <a:ext cx="1810512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776472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274320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探索地图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324612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space_trail_v1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87368.0" y="2276856"/>
            <a:ext cx="1810512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5274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8344" y="274320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发现印记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324612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AR显现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.0" y="2276856"/>
            <a:ext cx="1810512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29016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2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274320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显现信物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324612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relic_emerge_v1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39912.0" y="2276856"/>
            <a:ext cx="1810512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305288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76104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74320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完成回响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324612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权益/复访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用户走完一轮，获得的是一段可被记住的探索体验，而不是一个积分数字。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游客感知：克制、东方、在场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视觉：星图 · 经络 · 宣纸 · 淡金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交互：探索地图 · 权益中心 · 个人印记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语言：探索 / 显现 / 回响 / 礼遇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边界：无等级 · 无抽卡 · 无战力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我们刻意远离游戏化，以东方空间美学建立文旅场景的信任感与高级感。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事件驱动的 XR 运行时，UI 与 XR 解耦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用户 UI 层：首页 · 探索地图 · AR入口 · 信物册 · 权益中心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↓ safeNavigate / safeTap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Event Bus：XR_USER_TRIGGER · RELIC_CREATED · STAR_LIGHTED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↓                              ↓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XR Runtime（识别/管线/降级）   World Engine（结构化世界建模）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技术壁垒不在单个 AR 特效，而在可复用、可降级、可运营的空间运行时。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真机 XR 优先，备用显现保障交付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用户触发 → AR 显现 ──成功──→ 信物流程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│ 设备/权限/环境不支持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▼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备用显现 ──完成──→ 同一信物闭环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景区现场网络与设备不可控，系统必须保证体验闭环不断裂。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B2B2C：景区付费，商家增值，用户免费探索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① 景区 SaaS 年费/项目费     → 景区/文博     空间系统部署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② 点位内容生产费             → 景区+平台     信物/显现内容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③ 商家活动服务费             → 在地商家     权益投放/核销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④ 增值运营模块               → 景区         数据分析/活动引擎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⑤ 城市复制授权               → 政府/文旅集团 多景区复制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用户端：免费进入探索 · 信物与权益自然获得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收入来自空间运营基础设施，而非向游客售卖虚拟道具。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最小可验证单元：一个景区，三个探索点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2011680"/>
            <a:ext cx="2926080" cy="640080"/>
          </a:xfrm>
          <a:prstGeom prst="roundRect">
            <a:avLst/>
          </a:prstGeom>
          <a:solidFill>
            <a:srgbClr val="26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0756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1EB"/>
                </a:solidFill>
                <a:latin typeface="Microsoft YaHei"/>
              </a:defRPr>
            </a:pPr>
            <a:r>
              <a:t>爱企谷（示例景区）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834640" y="2651760"/>
            <a:ext cx="3246120" cy="118872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11680" y="384048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21408" y="395020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点位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27939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入口仪式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651760"/>
            <a:ext cx="0" cy="178308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443484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454456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点位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87375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核心信物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651760"/>
            <a:ext cx="3703320" cy="118872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384048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395020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点位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427939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商家礼遇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A34"/>
                </a:solidFill>
                <a:latin typeface="Microsoft YaHei"/>
              </a:defRPr>
            </a:pPr>
            <a:r>
              <a:t>验证指标：完成率 · 信物获得率 · 权益领取率 · 复访率 · 传播素材产出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一个景区、三个点位，即可跑通从进入到信物到权益的完整商业闭环。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90 天试点节奏（示意）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Day 0–30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点位勘测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XR 标定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信物定义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Day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内容上线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试运行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商家权益接入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Day 61–90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运营复盘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复制模板冻结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二景区 BD 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试点目标不是 Demo，而是可复制的景区交付模板与运营数据基线。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每一次探索，都是可运营的关系数据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0" y="1691640"/>
            <a:ext cx="10789920" cy="384048"/>
          </a:xfrm>
          <a:prstGeom prst="rect">
            <a:avLst/>
          </a:prstGeom>
          <a:solidFill>
            <a:srgbClr val="26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746504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行为事件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5592" y="1746504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结构化输出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2232" y="1746504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运营动作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075688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121408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进入景区 / 探索点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5592" y="2121408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探索路径图谱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2232" y="2121408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路径优化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459736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505456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AR显现 / 备用完成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5592" y="2505456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显现成功率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232" y="2505456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设备策略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843784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2889504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信物获得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5592" y="2889504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信物档案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2232" y="2889504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内容迭代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27832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273552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权益领取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5592" y="3273552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礼遇转化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232" y="3273552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商家协同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611880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657600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复访 / 分享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5592" y="3657600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传播触点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2232" y="3657600"/>
            <a:ext cx="359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活动投放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信物是用户资产，行为链是景区 CRM——两者在同一系统内闭环。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平台 · 景区 · 商家，同一套数据语法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平台总览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审查/发布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内容生产线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景区看板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探索进度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信物/活动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28800"/>
            <a:ext cx="3246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0116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3A34"/>
                </a:solidFill>
                <a:latin typeface="Microsoft YaHei"/>
              </a:defRPr>
            </a:pPr>
            <a:r>
              <a:t>商家门户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68880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核销/礼遇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6B7280"/>
                </a:solidFill>
                <a:latin typeface="Microsoft YaHei"/>
              </a:defRPr>
            </a:pPr>
            <a:r>
              <a:t>活动效果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数据不是报表堆砌，而是驱动景区复购与商家转化的运营语言。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四维壁垒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空间操作系统定位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  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世界观一致性 ──┼── 工程可交付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(Canon冻结)    │    (XR降级)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     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商业闭环完整 ──┴── 非游戏化品牌信任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(信物→权益)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竞品多做 AR 特效或打卡工具，我们做的是景区可长期运营的空间记忆基础设施。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AR游伴 vs 传统方案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0" y="1691640"/>
            <a:ext cx="10789920" cy="384048"/>
          </a:xfrm>
          <a:prstGeom prst="rect">
            <a:avLst/>
          </a:prstGeom>
          <a:solidFill>
            <a:srgbClr val="26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传统导览小程序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AR特效外包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AR游伴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075688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空间触发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68A3D"/>
                </a:solidFill>
                <a:latin typeface="Microsoft YaHei"/>
              </a:defRPr>
            </a:pPr>
            <a:r>
              <a:t>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459736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信物记忆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68A3D"/>
                </a:solidFill>
                <a:latin typeface="Microsoft YaHei"/>
              </a:defRPr>
            </a:pPr>
            <a:r>
              <a:t>核心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843784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运营后台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68A3D"/>
                </a:solidFill>
                <a:latin typeface="Microsoft YaHei"/>
              </a:defRPr>
            </a:pPr>
            <a:r>
              <a:t>完整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227832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商业闭环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券-only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项目制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68A3D"/>
                </a:solidFill>
                <a:latin typeface="Microsoft YaHei"/>
              </a:defRPr>
            </a:pPr>
            <a:r>
              <a:t>SaaS+运营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611880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36576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可复制性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36576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36576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36576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68A3D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3995928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404164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品牌气质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2" y="404164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工具感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404164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娱乐感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1392" y="404164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68A3D"/>
                </a:solidFill>
                <a:latin typeface="Microsoft YaHei"/>
              </a:defRPr>
            </a:pPr>
            <a:r>
              <a:t>文旅高级感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我们不是更炫的 AR，而是更完整的景区空间运营系统。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从单景区模板，到城市文化网络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25624" y="2148840"/>
            <a:ext cx="256032" cy="256032"/>
          </a:xfrm>
          <a:prstGeom prst="ellipse">
            <a:avLst/>
          </a:prstGeom>
          <a:solidFill>
            <a:srgbClr val="B68A3D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644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353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1景区·3点位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353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试点验证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6520.0" y="2276856"/>
            <a:ext cx="326136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5274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2920" y="2743200"/>
            <a:ext cx="353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1城市·N景区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2920" y="3246120"/>
            <a:ext cx="353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标准化复制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63640.0" y="2276856"/>
            <a:ext cx="326136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57986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068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0040" y="2743200"/>
            <a:ext cx="353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城际信物图谱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0040" y="3246120"/>
            <a:ext cx="353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文化IP网络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10607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0233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○ ─── ○ ─── ○ ─── ○ ─── ○   城市星图网络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复制的是空间操作系统与内容工厂，不是一次性定制项目。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传播飞轮 × 商业飞轮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16002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传播飞轮：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震撼显现 → 用户拍摄分享 → 新客进入 → 新信物 → 再传播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商业飞轮：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探索完成 → 信物获得 → 权益领取 → 商家转化 → 景区复购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╭────────────────╮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│  AR游伴核心  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│  空间信物系统   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63A34"/>
                </a:solidFill>
                <a:latin typeface="Microsoft YaHei"/>
              </a:defRPr>
            </a:pPr>
            <a:r>
              <a:t>           ╰────────────────╯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传播带来新客，商业带来复购，信物系统是两者的交汇点。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四方共赢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0" y="1691640"/>
            <a:ext cx="10789920" cy="384048"/>
          </a:xfrm>
          <a:prstGeom prst="rect">
            <a:avLst/>
          </a:prstGeom>
          <a:solidFill>
            <a:srgbClr val="26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价值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价值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1EB"/>
                </a:solidFill>
                <a:latin typeface="Microsoft YaHei"/>
              </a:defRPr>
            </a:pPr>
            <a:r>
              <a:t>价值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075688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游客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被记住的探索体验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文化共鸣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12140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礼遇延续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459736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景区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可运营现场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数据资产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50545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差异化 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843784"/>
            <a:ext cx="1078992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商家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精准到店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权益转化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889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低门槛参与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227832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标准化复制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内容审查发布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2735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A34"/>
                </a:solidFill>
                <a:latin typeface="Microsoft YaHei"/>
              </a:defRPr>
            </a:pPr>
            <a:r>
              <a:t>城市级扩展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游客获得记忆，景区获得关系，商家获得客流，平台获得规模。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融资轮次与用途（示意框架）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691640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874519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63A34"/>
                </a:solidFill>
                <a:latin typeface="Microsoft YaHei"/>
              </a:defRPr>
            </a:pPr>
            <a:r>
              <a:t>轮次：种子轮 / Pre-A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63A34"/>
                </a:solidFill>
                <a:latin typeface="Microsoft YaHei"/>
              </a:defRPr>
            </a:pPr>
            <a:r>
              <a:t>金额：[    ] 万元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63A34"/>
                </a:solidFill>
                <a:latin typeface="Microsoft YaHei"/>
              </a:defRPr>
            </a:pPr>
            <a:r>
              <a:t>估值：[    ] 万元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783080"/>
            <a:ext cx="502920" cy="347472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819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F1EB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产品与技术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013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XR Runtime · 后台 · 内容工厂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286000"/>
            <a:ext cx="502920" cy="347472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322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F1EB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景区试点与市场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042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1→3 景区复制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788920"/>
            <a:ext cx="502920" cy="347472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28254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F1EB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内容与运营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07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信物生产 · 活动交付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291840"/>
            <a:ext cx="502920" cy="347472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3284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F1EB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合规与基础设施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融资用于把「已验证的单景区闭环」推进到「可复制的城市级空间网络」。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B6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3A34"/>
                </a:solidFill>
                <a:latin typeface="Microsoft YaHei"/>
              </a:defRPr>
            </a:pPr>
            <a:r>
              <a:t>从试点到规模 · 18 个月路线图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298448"/>
            <a:ext cx="2240280" cy="0"/>
          </a:xfrm>
          <a:prstGeom prst="line">
            <a:avLst/>
          </a:prstGeom>
          <a:ln w="19050">
            <a:solidFill>
              <a:srgbClr val="B6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872234" y="2148840"/>
            <a:ext cx="256032" cy="256032"/>
          </a:xfrm>
          <a:prstGeom prst="ellipse">
            <a:avLst/>
          </a:prstGeom>
          <a:solidFill>
            <a:srgbClr val="B68A3D"/>
          </a:solidFill>
          <a:ln w="12700">
            <a:solidFill>
              <a:srgbClr val="B6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305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单景区试点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信物闭环冻结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83130.0" y="2276856"/>
            <a:ext cx="235458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257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339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614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3景区复制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614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商家权益规模化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03470.0" y="2276856"/>
            <a:ext cx="235458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31291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373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城市签约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内容工厂上线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23810.0" y="2276856"/>
            <a:ext cx="2354580.0" cy="0"/>
          </a:xfrm>
          <a:prstGeom prst="line">
            <a:avLst/>
          </a:prstGeom>
          <a:ln w="12700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033254" y="2148840"/>
            <a:ext cx="256032" cy="25603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407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6820" y="274320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A34"/>
                </a:solidFill>
                <a:latin typeface="Microsoft YaHei"/>
              </a:defRPr>
            </a:pPr>
            <a:r>
              <a:t>标准化SaaS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6820" y="3246120"/>
            <a:ext cx="26289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数据产品化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840480"/>
            <a:ext cx="10607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0233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63A34"/>
                </a:solidFill>
                <a:latin typeface="Microsoft YaHei"/>
              </a:defRPr>
            </a:pPr>
            <a:r>
              <a:t>每一步都可交付、可验收、可复盘，不以概念换估值。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结论 · 每一步都可交付、可验收、可复盘，不以概念换估值。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6355080"/>
            <a:ext cx="10698480" cy="0"/>
          </a:xfrm>
          <a:prstGeom prst="line">
            <a:avLst/>
          </a:prstGeom>
          <a:ln w="9525">
            <a:solidFill>
              <a:srgbClr val="C9B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41280" y="32004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314432" y="356616.0"/>
            <a:ext cx="246888" cy="0.0"/>
          </a:xfrm>
          <a:prstGeom prst="line">
            <a:avLst/>
          </a:prstGeom>
          <a:ln w="9525">
            <a:solidFill>
              <a:srgbClr val="8A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32004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34472" y="356616.0"/>
            <a:ext cx="246888" cy="0.0"/>
          </a:xfrm>
          <a:prstGeom prst="line">
            <a:avLst/>
          </a:prstGeom>
          <a:ln w="9525">
            <a:solidFill>
              <a:srgbClr val="8A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81360" y="32004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B896"/>
                </a:solidFill>
                <a:latin typeface="Microsoft YaHei"/>
              </a:defRPr>
            </a:pPr>
            <a:r>
              <a:t>AR游伴 · ARYOUBAN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4F1EB"/>
                </a:solidFill>
                <a:latin typeface="Microsoft YaHei"/>
              </a:defRPr>
            </a:pPr>
            <a:r>
              <a:t>看见即是找回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B896"/>
                </a:solidFill>
                <a:latin typeface="Microsoft YaHei"/>
              </a:defRPr>
            </a:pPr>
            <a:r>
              <a:t>让真实世界留下可被记住的探索痕迹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576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F4F1EB"/>
                </a:solidFill>
                <a:latin typeface="Microsoft YaHei"/>
              </a:defRPr>
            </a:pPr>
            <a:r>
              <a:t>联系人：[姓名]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F4F1EB"/>
                </a:solidFill>
                <a:latin typeface="Microsoft YaHei"/>
              </a:defRPr>
            </a:pPr>
            <a:r>
              <a:t>邮箱：[email@company.com]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F4F1EB"/>
                </a:solidFill>
                <a:latin typeface="Microsoft YaHei"/>
              </a:defRPr>
            </a:pPr>
            <a:r>
              <a:t>微信：[扫码添加]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507492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76672" y="5111496.0"/>
            <a:ext cx="246888" cy="0.0"/>
          </a:xfrm>
          <a:prstGeom prst="line">
            <a:avLst/>
          </a:prstGeom>
          <a:ln w="9525">
            <a:solidFill>
              <a:srgbClr val="8A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23560" y="507492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696712" y="5111496.0"/>
            <a:ext cx="246888" cy="0.0"/>
          </a:xfrm>
          <a:prstGeom prst="line">
            <a:avLst/>
          </a:prstGeom>
          <a:ln w="9525">
            <a:solidFill>
              <a:srgbClr val="8A9A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5074920"/>
            <a:ext cx="73152" cy="73152"/>
          </a:xfrm>
          <a:prstGeom prst="ellipse">
            <a:avLst/>
          </a:prstGeom>
          <a:solidFill>
            <a:srgbClr val="C9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9B896"/>
                </a:solidFill>
                <a:latin typeface="Microsoft YaHei"/>
              </a:defRPr>
            </a:pPr>
            <a:r>
              <a:t>结论 · 我们在寻找认同「空间记忆」长期价值的文旅与科技同行者。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